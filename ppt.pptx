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1">
                <a:solidFill>
                  <a:srgbClr val="E7EDF3"/>
                </a:solidFill>
                <a:latin typeface="Consolas"/>
              </a:rP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77824"/>
            <a:ext cx="2286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00" b="1">
                <a:solidFill>
                  <a:srgbClr val="5C6D7E"/>
                </a:solidFill>
                <a:latin typeface="Consolas"/>
              </a:rPr>
              <a:t>NETWORK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100584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E7EDF3"/>
                </a:solidFill>
                <a:latin typeface="Aptos"/>
              </a:rPr>
              <a:t>Telecom Network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98755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0">
                <a:solidFill>
                  <a:srgbClr val="8B9DB1"/>
                </a:solidFill>
                <a:latin typeface="Aptos"/>
              </a:rPr>
              <a:t>From raw mobile activity to an operational intelligence control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32588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DATA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337560"/>
            <a:ext cx="8229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374136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3337560"/>
            <a:ext cx="100584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3374136"/>
            <a:ext cx="10058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REACT NOC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3337560"/>
            <a:ext cx="13258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3374136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F0B35B"/>
                </a:solidFill>
                <a:latin typeface="Consolas"/>
              </a:rPr>
              <a:t>MACHINE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337560"/>
            <a:ext cx="10515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374136"/>
            <a:ext cx="10515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CLAUDE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E7EDF3"/>
                </a:solidFill>
                <a:latin typeface="Aptos"/>
              </a:rPr>
              <a:t>Customer / Team Lead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72237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8B9DB1"/>
                </a:solidFill>
                <a:latin typeface="Aptos"/>
              </a:rPr>
              <a:t>A production-minded analytics journey with operational visibility, predictive risk and explainable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371600"/>
            <a:ext cx="292608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664208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883664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NETWORK VIEW</a:t>
            </a:r>
          </a:p>
        </p:txBody>
      </p:sp>
      <p:sp>
        <p:nvSpPr>
          <p:cNvPr id="22" name="Oval 21"/>
          <p:cNvSpPr/>
          <p:nvPr/>
        </p:nvSpPr>
        <p:spPr>
          <a:xfrm>
            <a:off x="10835640" y="1737360"/>
            <a:ext cx="146304" cy="146304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532888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GRID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752344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25" name="Oval 24"/>
          <p:cNvSpPr/>
          <p:nvPr/>
        </p:nvSpPr>
        <p:spPr>
          <a:xfrm>
            <a:off x="10835640" y="2606040"/>
            <a:ext cx="146304" cy="146304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401568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21024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OPERATIONAL</a:t>
            </a:r>
          </a:p>
        </p:txBody>
      </p:sp>
      <p:sp>
        <p:nvSpPr>
          <p:cNvPr id="28" name="Oval 27"/>
          <p:cNvSpPr/>
          <p:nvPr/>
        </p:nvSpPr>
        <p:spPr>
          <a:xfrm>
            <a:off x="10835640" y="3474720"/>
            <a:ext cx="146304" cy="146304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4270248"/>
            <a:ext cx="1645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489704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PREDICTIVE</a:t>
            </a:r>
          </a:p>
        </p:txBody>
      </p:sp>
      <p:sp>
        <p:nvSpPr>
          <p:cNvPr id="31" name="Oval 30"/>
          <p:cNvSpPr/>
          <p:nvPr/>
        </p:nvSpPr>
        <p:spPr>
          <a:xfrm>
            <a:off x="10835640" y="4343400"/>
            <a:ext cx="146304" cy="146304"/>
          </a:xfrm>
          <a:prstGeom prst="ellipse">
            <a:avLst/>
          </a:prstGeom>
          <a:solidFill>
            <a:srgbClr val="FF6B72"/>
          </a:solidFill>
          <a:ln>
            <a:solidFill>
              <a:srgbClr val="FF6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01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What the platform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single operational view from network activity to prioritized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218541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NETWORK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9191"/>
            <a:ext cx="218541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18104"/>
            <a:ext cx="21854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Milan grid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7016" y="2066543"/>
            <a:ext cx="109728" cy="109728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2404872"/>
            <a:ext cx="218541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OPERATIONAL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679191"/>
            <a:ext cx="218541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3118104"/>
            <a:ext cx="21854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Overview, grids, hotspots, alerts,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7336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7" y="2066543"/>
            <a:ext cx="109728" cy="109728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2404872"/>
            <a:ext cx="218541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DECISION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2679191"/>
            <a:ext cx="218541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3118104"/>
            <a:ext cx="21854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Rules, anomaly baseline, ML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6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96528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15400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404872"/>
            <a:ext cx="2185416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AI-READY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679191"/>
            <a:ext cx="2185416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3118104"/>
            <a:ext cx="2185416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Evidence-grounded assistant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886200"/>
            <a:ext cx="2560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CUSTOMER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Move from raw activity tables to an operator-friendly control room.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Identify where activity is unusual and why it deserves attention.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Connect spatial context, historical behavior and predictive risk.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Keep data quality visible before decisions are made.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886200"/>
            <a:ext cx="2560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ENGINEERING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187952"/>
            <a:ext cx="5257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Layered architecture with clear responsibility boundaries.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Reusable FastAPI contracts consumed by the React dashboard.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Time-aware ML features and chronological validation.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Designed for safe AI augmentation rather than AI replacing analytics.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Network teams have data — the challenge is turning it into a trustworthy next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480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WITHOUT AN INTEGRATED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Large hourly activity datasets are difficult to scan manually.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 high value does not automatically mean an operational incident.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Historical context is needed to distinguish recurring peaks from deviations.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Predictive scores need network evidence around them.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If the pipeline is stale or unhealthy, downstream conclusions can mislead.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4805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WITH NEXUS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Start with current KPIs and a shared reporting timestamp.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Drill from a grid to hourly activity and spatial context.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Prioritize hotspots and operational alerts.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Assess future high-activity risk with an explainable baseline model.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Keep evidence, uncertainty and data health visible.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One system, built in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Compute, score and reasoning stay separated.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" y="2029967"/>
            <a:ext cx="73152" cy="1563623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Daily Milan CSVs
+ static GeoJSON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88589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1988589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29968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6272" y="2029967"/>
            <a:ext cx="73152" cy="1563623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Validated inputs
+ reference zone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37560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424197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424197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65576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2029967"/>
            <a:ext cx="73152" cy="1563623"/>
          </a:xfrm>
          <a:prstGeom prst="rect">
            <a:avLst/>
          </a:prstGeom>
          <a:solidFill>
            <a:srgbClr val="4F8CFF"/>
          </a:solidFill>
          <a:ln w="1016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PySpark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Clean • aggregate
• 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73168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859805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4859805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01184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47488" y="2029967"/>
            <a:ext cx="73152" cy="1563623"/>
          </a:xfrm>
          <a:prstGeom prst="rect">
            <a:avLst/>
          </a:prstGeom>
          <a:solidFill>
            <a:srgbClr val="4F8CFF"/>
          </a:solidFill>
          <a:ln w="1016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Warehouse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Parquet + analytics
fact/dim model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08776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295413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6295413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36792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83096" y="2029967"/>
            <a:ext cx="73152" cy="1563623"/>
          </a:xfrm>
          <a:prstGeom prst="rect">
            <a:avLst/>
          </a:prstGeom>
          <a:solidFill>
            <a:srgbClr val="F0B35B"/>
          </a:solidFill>
          <a:ln w="10160"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Feature +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Features • anomaly
risk scoring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44384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731021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7731021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772400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18704" y="2029967"/>
            <a:ext cx="73152" cy="1563623"/>
          </a:xfrm>
          <a:prstGeom prst="rect">
            <a:avLst/>
          </a:prstGeom>
          <a:solidFill>
            <a:srgbClr val="4F8CFF"/>
          </a:solidFill>
          <a:ln w="1016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83296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FastAPI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Network • feature
prediction • health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79992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166629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9166629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08008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54312" y="2029967"/>
            <a:ext cx="73152" cy="1563623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React NOC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8904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KPIs • grid • map
alerts • risk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515600" y="2816352"/>
            <a:ext cx="16459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0602237" y="2816352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10602237" y="2768557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0643616" y="1874519"/>
            <a:ext cx="1307592" cy="187451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89920" y="2029967"/>
            <a:ext cx="73152" cy="1563623"/>
          </a:xfrm>
          <a:prstGeom prst="rect">
            <a:avLst/>
          </a:prstGeom>
          <a:solidFill>
            <a:srgbClr val="8B9DB1"/>
          </a:solidFill>
          <a:ln w="10160">
            <a:solidFill>
              <a:srgbClr val="8B9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54512" y="2039112"/>
            <a:ext cx="85039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Claude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54512" y="2377439"/>
            <a:ext cx="850392" cy="12344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30" b="0">
                <a:solidFill>
                  <a:srgbClr val="8B9DB1"/>
                </a:solidFill>
                <a:latin typeface="Aptos"/>
              </a:rPr>
              <a:t>Tools • MCP •
future investigation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4160520"/>
            <a:ext cx="10972800" cy="1298448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440740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RESPONSIBILITY BOUNDARY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4325112"/>
            <a:ext cx="84124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E7EDF3"/>
                </a:solidFill>
                <a:latin typeface="Aptos"/>
              </a:rPr>
              <a:t>Spark / SQL  compute and prepare evidence  •  ML  scores operational risk  •  Claude  reasons over curated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4800600"/>
            <a:ext cx="8412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AI is never asked to reproduce the analytics stack or fabricate values.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04 /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raw activity to analytics-ready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pipeline establishes the data contract every downstream layer relies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Daily Milan CSVs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26917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26917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Schema + file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174005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174005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8536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PySpark cleaning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88736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21093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021093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35624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Grid × hour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35824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868181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868181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82712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ENRICH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Milan geometry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715269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715269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2980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2029968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00" b="1">
                <a:solidFill>
                  <a:srgbClr val="F0B35B"/>
                </a:solidFill>
                <a:latin typeface="Consolas"/>
              </a:rPr>
              <a:t>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331720"/>
            <a:ext cx="13258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Parquet + warehouse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429000"/>
            <a:ext cx="534924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3675887"/>
            <a:ext cx="45720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KEY DATA-GRAIN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Canonical hourly network activity at grid level.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Static Milan grid reference with 10,000 cells.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Shared AS_OF semantics across downstream views.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429000"/>
            <a:ext cx="539496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675887"/>
            <a:ext cx="45720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RELIABILITY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File-scope protection for Milan inputs.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Validation and reproducible processing.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Pipeline status exposed to operational consumers.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Three complementary decision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Rules, historical deviation and ML answer different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RULE-BASED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happening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108960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06324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HIGH_ACTIVITY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5387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ACTIVITY_SPIKE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059936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014216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ACTIVITY_DROP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29968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ANOMALY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95728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Is this unusual for this grid and hour?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3108960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06324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Historical baseline</a:t>
            </a:r>
          </a:p>
        </p:txBody>
      </p:sp>
      <p:sp>
        <p:nvSpPr>
          <p:cNvPr id="20" name="Oval 19"/>
          <p:cNvSpPr/>
          <p:nvPr/>
        </p:nvSpPr>
        <p:spPr>
          <a:xfrm>
            <a:off x="4315968" y="3584448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35387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Deviation score</a:t>
            </a:r>
          </a:p>
        </p:txBody>
      </p:sp>
      <p:sp>
        <p:nvSpPr>
          <p:cNvPr id="22" name="Oval 21"/>
          <p:cNvSpPr/>
          <p:nvPr/>
        </p:nvSpPr>
        <p:spPr>
          <a:xfrm>
            <a:off x="4315968" y="4059936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4014216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 / low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029968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ML3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95728"/>
            <a:ext cx="26974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the predicted future risk?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108960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306324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Future-window target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584448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35387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Decision Tree classifier</a:t>
            </a:r>
          </a:p>
        </p:txBody>
      </p:sp>
      <p:sp>
        <p:nvSpPr>
          <p:cNvPr id="31" name="Oval 30"/>
          <p:cNvSpPr/>
          <p:nvPr/>
        </p:nvSpPr>
        <p:spPr>
          <a:xfrm>
            <a:off x="7790688" y="4059936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4014216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Risk score +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86400"/>
            <a:ext cx="10104120" cy="5029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9601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19" b="1">
                <a:solidFill>
                  <a:srgbClr val="E7EDF3"/>
                </a:solidFill>
                <a:latin typeface="Aptos"/>
              </a:rPr>
              <a:t>Operational principle: a risk score is an attention signal — not proof of congestion or a network fault.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06 / SERVICE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FastAPI turns analytics into reusable operational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dashboard consumes stable endpoints instead of embedding analytics logic in the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6294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852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OPERATIONAL API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/network/summary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04288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Top-level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52344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52344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Hourly grid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Ranked high-activity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FF6B72"/>
                </a:solidFill>
                <a:latin typeface="Consolas"/>
              </a:rPr>
              <a:t>/network/alerts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648456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Operational attention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2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96512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 feature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44568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/network/predict-risk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544568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ML3 risk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/pipeline/status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992624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Data / pipeline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971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440680"/>
            <a:ext cx="29260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Geographic grid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691640"/>
            <a:ext cx="41148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1920240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DESIGN 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Clear separation between UI and analytics.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Reusable contracts for future AI tools.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Centralized validation and error handling.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One reporting-time concept across the system.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Supports frontend, testing and future Claude tools.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07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NOC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frontend is intentionally aligned to an operator workflow: orient → drill down → investigate.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Network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Grid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30" b="1">
                <a:solidFill>
                  <a:srgbClr val="E7EDF3"/>
                </a:solidFill>
                <a:latin typeface="Aptos"/>
              </a:rPr>
              <a:t>Overview answers “what is happening?”  •  Grid Explorer answers “what is happening inside this grid?”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08 / SPATIAL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See the network where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Ranked records and Milan grid geometry turn abstract activity into location-aware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Network Hotspots + Milan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Network Alerts + Milan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10" b="1">
                <a:solidFill>
                  <a:srgbClr val="E7EDF3"/>
                </a:solidFill>
                <a:latin typeface="Aptos"/>
              </a:rPr>
              <a:t>NORMAL  •  ATTENTION  •  HIGH    |    independent result limits    |    grid selection + tooltip 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09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Move from alert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investigation experience connects the alert record to historical context and comparative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Alert Investigation / Detail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Analytics / additional operational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Consolas"/>
              </a:rPr>
              <a:t>Signal → context → evidence → next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10 / COMPARATIVE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Compare patterns, not just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Historical and side-by-side views help distinguish isolated spikes from persistent or structural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Compare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977639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7548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DECISION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95728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Is Grid A behaving differently from Grid B?</a:t>
            </a:r>
          </a:p>
          <a:p>
            <a:pPr>
              <a:spcAft>
                <a:spcPts val="7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Is the change persistent across time?</a:t>
            </a:r>
          </a:p>
          <a:p>
            <a:pPr>
              <a:spcAft>
                <a:spcPts val="7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Is the peak expected for this hour?</a:t>
            </a:r>
          </a:p>
          <a:p>
            <a:pPr>
              <a:spcAft>
                <a:spcPts val="7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Does the operational signal agree with the ML risk signal?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480060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837176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F0B35B"/>
                </a:solidFill>
                <a:latin typeface="Consolas"/>
              </a:rPr>
              <a:t>HISTORICAL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4800600"/>
            <a:ext cx="7772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4837176"/>
            <a:ext cx="7772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COMPARE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05672" y="4800600"/>
            <a:ext cx="8229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4837176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257800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Reuse the same API evidence — no duplicate analytics logic.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11 / PREDICTIVE + DATA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Prediction is only useful when the evidence is healthy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Risk intelligence and pipeline health sit next to each other to make the operational context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Predictive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91640"/>
            <a:ext cx="5303520" cy="3977639"/>
          </a:xfrm>
          <a:prstGeom prst="roundRect">
            <a:avLst/>
          </a:prstGeom>
          <a:solidFill>
            <a:srgbClr val="101922"/>
          </a:solidFill>
          <a:ln w="12700">
            <a:solidFill>
              <a:srgbClr val="39D9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9656"/>
            <a:ext cx="497433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30" b="1">
                <a:solidFill>
                  <a:srgbClr val="39D98A"/>
                </a:solidFill>
                <a:latin typeface="Consolas"/>
              </a:rPr>
              <a:t>SCREEN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15868"/>
            <a:ext cx="4974336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5C6D7E"/>
                </a:solidFill>
                <a:latin typeface="Consolas"/>
              </a:rPr>
              <a:t>PASTE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Pipeline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40" b="1">
                <a:solidFill>
                  <a:srgbClr val="E7EDF3"/>
                </a:solidFill>
                <a:latin typeface="Aptos"/>
              </a:rPr>
              <a:t>ML output = future risk signal    •    Pipeline health = confidence in the evidence feeding the signal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13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a signal to an evidence-backed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added workflows connect the existing screens into one investigation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ALERT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What happened?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2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9424" y="27889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2825496"/>
            <a:ext cx="786384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7889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825496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Recent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38528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COMPARE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How different is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825496"/>
            <a:ext cx="65836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825496"/>
            <a:ext cx="65836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825496"/>
            <a:ext cx="72237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2825496"/>
            <a:ext cx="72237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Pattern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95928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HISTORICAL 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Is it persistent?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65836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448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882896"/>
            <a:ext cx="65836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4846320"/>
            <a:ext cx="104241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882896"/>
            <a:ext cx="104241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Hourly trend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48463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4882896"/>
            <a:ext cx="722376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995928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RISK →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97680"/>
            <a:ext cx="24688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Why investigate?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8463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882896"/>
            <a:ext cx="640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8312" y="4846320"/>
            <a:ext cx="85039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68312" y="4882896"/>
            <a:ext cx="8503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ML inputs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6" y="48463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4882896"/>
            <a:ext cx="786384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Activity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51392" y="48463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51392" y="4882896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Related context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897880"/>
            <a:ext cx="10972800" cy="41148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998464"/>
            <a:ext cx="10515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19" b="1">
                <a:solidFill>
                  <a:srgbClr val="E7EDF3"/>
                </a:solidFill>
                <a:latin typeface="Aptos"/>
              </a:rPr>
              <a:t>These workflows reuse the same grid, activity, alert and risk evidence — they do not create parallel analytics logic.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14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practical stack chosen for reproducibility, clear contracts and incremental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Python
CSV + GeoJSON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1938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DISTRIBUTED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0428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PySpark
ETL + enrichment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938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0428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Parquet
Analytics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938528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30428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Airflow
Pipeline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904487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7024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FastAPI
REST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3904487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427024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React + Vite
Leaflet + Recharts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904487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27024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Scikit-learn
Decision Tree +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78824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904487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8B9DB1"/>
                </a:solidFill>
                <a:latin typeface="Consolas"/>
              </a:rPr>
              <a:t>AI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270248"/>
            <a:ext cx="2103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Claude / MCP
Next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742432"/>
            <a:ext cx="10972800" cy="475488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61304"/>
            <a:ext cx="10515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Aptos"/>
              </a:rPr>
              <a:t>Engineering principle: compute once upstream, expose through contracts, reuse downstream.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15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end-to-end story for a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concise path from network state to a prioritized operational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88366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2140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Open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7568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is happening 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73736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92024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88366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12140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Hotspots /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07568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Where should I look?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7180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11810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DRILL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35584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Grid Explorer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1012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does the grid show?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97180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5468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311810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35584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Historical /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31012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Is this unusual or persistent?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435254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59028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Risk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54456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may happen next?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20624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38912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35254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59028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Pipeline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454456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Can I trust the evidence?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44068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384048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5586984"/>
            <a:ext cx="10058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5824728"/>
            <a:ext cx="19202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Investigation brief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779008"/>
            <a:ext cx="224028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should I check next?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16 /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Claude as the NOC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remaining integration layer should reason over evidence, not replace the analytics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07492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389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WHAT CLAUDE WILL 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389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Selected alert and grid context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Current activity + baseline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Historical / comparison evidence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Predictive risk result + model version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Pipeline / data health state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Relevant tool and MCP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57784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48463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EXAMPLE NOC QUESTIONS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43230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“Explain this alert.”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93522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898648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“Why should I investigate this grid?”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43814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401568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“Is this condition persistent?”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94106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04487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“Compare this grid with another grid.”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44398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407407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evidence supports the risk signal?”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94690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910327"/>
            <a:ext cx="45262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should I check next?”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48463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19" b="1">
                <a:solidFill>
                  <a:srgbClr val="8B9DB1"/>
                </a:solidFill>
                <a:latin typeface="Aptos"/>
              </a:rPr>
              <a:t>Guardrail: Claude must state uncertainty and surface data-quality issues.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17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working telecom analytics platform with an operational UI and a clear path to evidence-grounded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658368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715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End-to-end data engineering pipeline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PySpark processing and Milan spatial enrichment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Analytics warehouse and reusable service contracts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FastAPI network, feature, prediction and operational endpoints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Professional React NOC dashboard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Hotspot / alert spatial operations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ML-based predictive risk + anomaly intelligence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Historical, comparison and investigation workflows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Pipeline/data operations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411480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011680"/>
            <a:ext cx="34747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50592"/>
            <a:ext cx="32004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100" b="1">
                <a:solidFill>
                  <a:srgbClr val="E7EDF3"/>
                </a:solidFill>
                <a:latin typeface="Aptos"/>
              </a:rPr>
              <a:t>Claude-powered
NOC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37560"/>
            <a:ext cx="31546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Evidence-grounded reasoning across alerts, grids, risk and pipeline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626864"/>
            <a:ext cx="71323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626864"/>
            <a:ext cx="71323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4590288"/>
            <a:ext cx="80467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626864"/>
            <a:ext cx="80467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74920"/>
            <a:ext cx="31546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50" b="1">
                <a:solidFill>
                  <a:srgbClr val="E7EDF3"/>
                </a:solidFill>
                <a:latin typeface="Aptos"/>
              </a:rPr>
              <a:t>Goal: faster investigation with the same evidence and safety boundaries.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Representative API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Useful for the technical discussion.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383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39D98A"/>
                </a:solidFill>
                <a:latin typeface="Consolas"/>
              </a:rPr>
              <a:t>/network/summary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920240"/>
            <a:ext cx="6583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summary KPIs + as_of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87752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3383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Consolas"/>
              </a:rPr>
              <a:t>/network/grid/{id}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816352"/>
            <a:ext cx="6583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hourly activity + reporting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83864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4"/>
            <a:ext cx="3383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F6B72"/>
                </a:solidFill>
                <a:latin typeface="Consolas"/>
              </a:rPr>
              <a:t>/network/alerts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712464"/>
            <a:ext cx="6583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alert records + severity +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79976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08576"/>
            <a:ext cx="3383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F0B35B"/>
                </a:solidFill>
                <a:latin typeface="Consolas"/>
              </a:rPr>
              <a:t>/network/predict-risk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608576"/>
            <a:ext cx="6583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risk_score + risk_level + model_version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276088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33832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39D98A"/>
                </a:solidFill>
                <a:latin typeface="Consolas"/>
              </a:rPr>
              <a:t>/pipeline/status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504688"/>
            <a:ext cx="65836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data/pipeline operational 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ML design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Simple, explainable features with a future-window target and time-aware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3891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5720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59152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avg_activity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52344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activity_growth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45536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82112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peak_ratio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38728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75304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variability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68496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internet_share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25112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61688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trailing_median_24h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18304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hour_of_day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11496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48072"/>
            <a:ext cx="178308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day_of_week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91640"/>
            <a:ext cx="5394960" cy="43891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965960"/>
            <a:ext cx="46634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OPERATIONAL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359152"/>
            <a:ext cx="4617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Features describe history through time t.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The target represents the next hourly interval.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Chronological train/test split avoids temporal leakage.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Base rate is reported alongside accuracy.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Precision and recall are interpreted operationally.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Model output is kept separate from narrative reasoning.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